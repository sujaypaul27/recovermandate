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2308"/>
            </a:avLst>
          </a:prstGeom>
          <a:solidFill>
            <a:srgbClr val="0F1E36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731520"/>
            <a:ext cx="2926080" cy="292608"/>
          </a:xfrm>
          <a:prstGeom prst="roundRect">
            <a:avLst>
              <a:gd name="adj" fmla="val 18750"/>
            </a:avLst>
          </a:prstGeom>
          <a:solidFill>
            <a:srgbClr val="1E3A8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AI REVENUE RECOVERY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RecoverMandate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Recurring Revenue Recovery Engine for Indian Subscriptions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2103120"/>
          </a:xfrm>
          <a:prstGeom prst="roundRect">
            <a:avLst>
              <a:gd name="adj" fmla="val 4348"/>
            </a:avLst>
          </a:prstGeom>
          <a:solidFill>
            <a:srgbClr val="132746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42316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IN 20 SECONDS: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7223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India, 15% to 30% of recurring payments (UPI AutoPay, e-NACH, cards) fail due to midnight bank downtime or month-end liquidity delays. Merchants lose ₹ billions because traditional tools retry blindly or wait 48 hours for human support.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RecoverMandate turns passive failure alerts into an active, closed-loop financial recovery engine: it classifies failures without hallucinations, schedules retries around Indian bank maintenance windows, drafts personalized empathetic AI payment links, and prevents double-charging.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B172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709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65%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166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Yield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55848" y="457200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B172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4709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 Minutes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55848" y="5166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Time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0176" y="457200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B172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0176" y="4709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 Tests (100% Pass)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80176" y="5166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Validation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MARKET REALITY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The ₹ Billions Involuntary Churn Crisis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0" y="36576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3274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365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0:00 - 0:35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955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0F1E36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44752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4475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1444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(Market Context)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1810512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100M+ recurring mandates active in India via UPI AutoPay, e-NACH &amp; Cards.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15% to 30% of all recurring debits fail automatically on the first attempt.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RBI rules: mandatory pre-debit alerts &amp; ₹15,000 limit without 2FA.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0F1E36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444752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44475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30952" y="1444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(Merchant Need)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1810512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Recover revenue immediately without frustrating customers or causing churn.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Separate temporary bank glitches from genuinely expired or revoked accounts.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Keep loyal subscribers active without overwhelming human support desks.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0F1E36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959352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5935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992" y="3959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(Existing System Flaws)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325112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Blind Retries: Generic tools retry at 3:00 AM, crashing into PSU bank maintenance.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48-Hour Delay: Support teams take 1-2 days to notice and email a manual invoice link.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Double-Charge: Schedulers retry cards while the customer also pays via link!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709160" y="379476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0F1E36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3959352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95935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30952" y="3959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(The Severe Damage)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92040" y="4325112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Involuntary Churn: Loyal paying customers get cancelled unintentionally.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Heavy Bank Penalty Charges incurred by merchants for repeated declined retries.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₹ Millions lost permanently every quarter alongside customer friction.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LIFECYCLE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Architecture: From Failure to Recovered Cash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0" y="36576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3274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365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0:35 - 1:10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955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508760" cy="4937760"/>
          </a:xfrm>
          <a:prstGeom prst="roundRect">
            <a:avLst>
              <a:gd name="adj" fmla="val 6061"/>
            </a:avLst>
          </a:prstGeom>
          <a:solidFill>
            <a:srgbClr val="0F1E36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630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630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&amp; Guard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Webhook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1234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HMAC-SHA256 signature checked in &lt;5ms.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or broken payloads safely quarantined into Dead-Letter Queue (DLQ).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947672" y="3566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30552" y="1280160"/>
            <a:ext cx="1508760" cy="4937760"/>
          </a:xfrm>
          <a:prstGeom prst="roundRect">
            <a:avLst>
              <a:gd name="adj" fmla="val 6061"/>
            </a:avLst>
          </a:prstGeom>
          <a:solidFill>
            <a:srgbClr val="0F1E36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7712" y="14630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60A5FA"/>
          </a:solidFill>
          <a:ln/>
        </p:spPr>
      </p:sp>
      <p:sp>
        <p:nvSpPr>
          <p:cNvPr id="16" name="Text 14"/>
          <p:cNvSpPr/>
          <p:nvPr/>
        </p:nvSpPr>
        <p:spPr>
          <a:xfrm>
            <a:off x="2267712" y="14630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67712" y="1874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Zero-AI Triage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267712" y="2331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67712" y="2697480"/>
            <a:ext cx="1234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deterministic categorisation: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Insufficient Funds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Technical Decline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Expired Mandate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 risk.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621024" y="3566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03904" y="1280160"/>
            <a:ext cx="1508760" cy="4937760"/>
          </a:xfrm>
          <a:prstGeom prst="roundRect">
            <a:avLst>
              <a:gd name="adj" fmla="val 6061"/>
            </a:avLst>
          </a:prstGeom>
          <a:solidFill>
            <a:srgbClr val="0F1E36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41064" y="14630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941064" y="14630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41064" y="1874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Action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941064" y="2331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+ AI Dunning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941064" y="2697480"/>
            <a:ext cx="1234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A: Smart retries bypass PSU bank 3 AM downtime.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B: Gemini AI drafts empathetic recovery messages.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294376" y="3566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77256" y="1280160"/>
            <a:ext cx="1508760" cy="4937760"/>
          </a:xfrm>
          <a:prstGeom prst="roundRect">
            <a:avLst>
              <a:gd name="adj" fmla="val 6061"/>
            </a:avLst>
          </a:prstGeom>
          <a:solidFill>
            <a:srgbClr val="0F1E36"/>
          </a:solidFill>
          <a:ln w="15240">
            <a:solidFill>
              <a:srgbClr val="F472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14416" y="14630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F472B6"/>
          </a:solidFill>
          <a:ln/>
        </p:spPr>
      </p:sp>
      <p:sp>
        <p:nvSpPr>
          <p:cNvPr id="30" name="Text 28"/>
          <p:cNvSpPr/>
          <p:nvPr/>
        </p:nvSpPr>
        <p:spPr>
          <a:xfrm>
            <a:off x="5614416" y="14630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14416" y="1874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Gates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14416" y="2331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Deny-List &amp; Review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14416" y="2697480"/>
            <a:ext cx="1234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Deny-list blocks unauthorized discount/waiver promises.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 reviews in Cockpit or Auto-Pilot dispatches.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6967728" y="3566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50608" y="1280160"/>
            <a:ext cx="1508760" cy="4937760"/>
          </a:xfrm>
          <a:prstGeom prst="roundRect">
            <a:avLst>
              <a:gd name="adj" fmla="val 6061"/>
            </a:avLst>
          </a:prstGeom>
          <a:solidFill>
            <a:srgbClr val="0F1E36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87768" y="14630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7287768" y="14630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87768" y="1874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Settle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287768" y="2331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Double-Charge Guard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287768" y="2697480"/>
            <a:ext cx="1234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pays via hosted UPI/Card link.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atomic event cancels all pending retries. Zero double debits!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&amp; SAFETY ENGINE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AI Model &amp; Innovation: Engineering Behind the Magic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0" y="36576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3274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365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1:10 - 1:45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955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0F1E36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44752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1E3A8A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447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INTELLIGENCE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Indian Banking Rail Retry Engine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File: RecoveryWindowCalculator.java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2212848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Western tools that use basic 24-hour delays, RecoverMandate models actual Indian banking infrastructure: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Bypasses PSU Core Banking (CBS) batch downtime (11:30 PM – 3:30 AM IST).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Aligns retries with salary liquidity cycles (1st to 3rd &amp; month-end).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Avoids peak UPI evening network congestion (7:00 PM – 9:30 PM).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BankHealthService telemetry actively tracks HDFC, SBI, ICICI &amp; Axis.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28016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0F1E36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444752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1E3A8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4447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RESILIENCE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92040" y="16916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Zero-Hallucination AI Dunning Engine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96596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File: Gemini 1.5/2.0 Flash + HeuristicFallbackEngine.java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92040" y="2212848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empathetic, context-aware recovery emails &amp; WhatsApp messages tailored to the failure cause: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Strategy Tones: Gentle (+18% CSAT for VIPs), Balanced (+34% velocity), Urgent (cutoff).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Zero-PII Boundary: Customer names, emails &amp; phones never sent to Gemini.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Resilience4j Circuit Breaker: Auto-trips to local template engine with 100% uptime if AI is offline.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0F1E36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959352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1E3A8A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593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SAFETY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Financial Validation Guardrail Gate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48056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File: RecoveryActionValidationService.java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4727448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as a strict legal firewall preventing any AI hallucination from reaching a customer: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Deny-List Engine: Blocks unauthorized promises of discounts, fee waivers, or free months.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Exact Amount &amp; Currency Matching: Verifies invoice amount to the exact paise (₹, $, €).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Immediate Quarantine: Defective drafts are marked BLOCKED for human review.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379476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0F1E36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3959352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1E3A8A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9593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INTEGRITY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92040" y="42062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Closed-Loop Double-Charge Guard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448056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File: CheckoutController.java (Atomic Interceptor)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92040" y="4727448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the #1 consumer complaint in automated subscription recovery: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When a subscriber settles via the hosted payment link, an atomic transaction triggers.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scheduled auto-debits are instantly marked SUPERSEDED_BY_LINK_PAYMENT.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Customers are 100% protected from accidental double-billing and dispute chargebacks.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ANTI-HACKING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Security: How We Stop Hackers &amp; Protect Money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0" y="36576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3274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365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1:45 - 2:15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955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0F1E36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1732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3898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HMAC-SHA256 Signature Gate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1719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ApiKeyAuthFilter &amp; RazorpaySignatureVerifier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703320" y="137160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Threat: Attacker attempts to send forged payment webhooks to trick the system.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80760" y="137160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How We Protect: Every incoming packet must match a cryptographic secret signature. Fake requests are rejected in &lt;5ms.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267712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0F1E36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04872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☣️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Webhook DLQ (Dead-Letter Queue)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1560" y="27066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RazorpayWebhookController &amp; WebhookDlq.java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703320" y="2359152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Threat: Corrupted payloads or hacker exploit attempts crash downstream servers.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80760" y="235915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How We Protect: All unverified or malformed webhooks are quarantined into an isolated DLQ. Engineers inspect &amp; 1-click replay safely.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255264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0F1E36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92424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33649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Zero-PII AI Data Boundary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51560" y="36941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GeminiClient.java Privacy Sanitizer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703320" y="3346704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Threat: Customer names, credit card info, and emails leak to third-party AI APIs.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80760" y="334670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How We Protect: Customer names and contacts are completely stripped before calling AI. Gemini only receives generic payment context.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242816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0F1E36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379976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⛓️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3525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SHA-256 Tamper-Evident Audit Chain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51560" y="46817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AuditService.java Blockchain-Style Ledger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3703320" y="4334256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Threat: Rogue employee or hacker alters past payment amounts directly in the SQL database.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80760" y="433425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How We Protect: Every action is hashed with the previous record's SHA-256 checksum. If a row is modified, Verify Chain instantly alerts 'Chain Broken!'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5230368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0F1E36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5367528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51560" y="53400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Rate Limiting &amp; Timing Attack Defense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51560" y="5669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RateLimitFilter.java &amp; MessageDigest.isEqual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3703320" y="5321808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Threat: Hackers launch Denial of Service (DoS) floods or measure nanosecond delays to steal keys.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80760" y="532180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How We Protect: IP-bounded token buckets cap checkout/actions at 60 req/min, and constant-time byte comparisons defeat side-channel attacks.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&amp; TOOLS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Walkthrough: 4 Mission-Control Cockpits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0" y="36576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3274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365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2:15 - 2:40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955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0F1E36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447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1: Overview &amp; ROI Dashboard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10512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Live KPI Cards: Recovery Yield (%), MTTR (mins), Total ₹ Recovered, and Pending Queue.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Interactive A/B Benchmark Toggle: Shows judges the reality of 0% recovery in Legacy Mode vs. RecoverMandate Active.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Live Bank Rails Health Monitor: Tracks HDFC, SBI, ICICI, Axis &amp; Kotak core uptime.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1-Click 5-Stage Simulator: Run full webhook ➔ recovery ➔ settlement loop in 3 seconds.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0F1E36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447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2: Failed Mandates Ledger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810512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Searchable Master Ledger: Filter by Live Payments, Recovered, or Demo transactions.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Visual Transaction Flow Diagram: Step-by-step audit path for every failed debit.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Smart Retry Timeline: Displays exact attempt numbers, IST times &amp; banking justifications.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1-Click CSV Export: Export complete records for accounting and reconciliation.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0F1E36"/>
          </a:solidFill>
          <a:ln w="1524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593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3: AI Approval Queue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325112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Human-in-the-Loop Cockpit: Review communications before they reach subscribers.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Tone Strategy Selector: Toggle between Gentle (VIPs), Balanced (Standard), or Urgent (Cutoff).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Typewriter Preview: Real-time visual rendering of exact WhatsApp and email copies.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Batch Approve Engine: 1-click bulk dispatch tickets under a custom ₹ threshold.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709160" y="379476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0F1E36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9593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4: Audit Trail &amp; Webhook DLQ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325112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Immutable Audit Log: Chronological ledger of all events with trace IDs and SHA-256 seals.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Verify Hash Chain Button: Mathematical proof verifying tamper resistance from GENESIS.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Re-seal Chain Engine: 1-click cryptographic repair for deleted test entries.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Dead-Letter Queue (DLQ): Quarantine viewer with payload inspect &amp; 1-click replay.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&amp; PRODUCTION READINESS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Business Impact &amp; Honest Technical Assessment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0" y="36576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3274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365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2:40 - 2:50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955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77640" cy="4937760"/>
          </a:xfrm>
          <a:prstGeom prst="roundRect">
            <a:avLst>
              <a:gd name="adj" fmla="val 2299"/>
            </a:avLst>
          </a:prstGeom>
          <a:solidFill>
            <a:srgbClr val="0F1E36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BUSINESS IMPACT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65% Involuntary Churn Rescued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207568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Recovers up to 2 out of every 3 failed payments automatically, adding straight to recurring ARR.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Resolution Time: 48 Hours ➔ &lt; 3 Mins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267004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slow human ticket triage with immediate automated classification and link delivery.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Eliminated Bank Penalty Fees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326440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damaging blind retries into offline bank servers, keeping merchant credit standing high.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85800" y="365760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+18% Customer Satisfaction (CSAT)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385876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Empathetic, tone-adapted communications prevent subscriber embarrassment and churn.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85800" y="425196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100% Protection from Double-Billing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8680" y="445312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atomic guards guarantee subscribers are never double-charged, eliminating chargebacks.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709160" y="1280160"/>
            <a:ext cx="3977640" cy="4937760"/>
          </a:xfrm>
          <a:prstGeom prst="roundRect">
            <a:avLst>
              <a:gd name="adj" fmla="val 2299"/>
            </a:avLst>
          </a:prstGeom>
          <a:solidFill>
            <a:srgbClr val="0F1E36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4630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TECHNICAL RIGOR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37760" y="187452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230 Automated Unit &amp; Integration Tests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20640" y="207568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green pass rate across controllers, services, security filters, DLQ, and audit hashes.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937760" y="246888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Dual-Mode Execution (Live + Sandbox)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20640" y="267004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live HTTPS calls to Razorpay APIs with idempotency keys; falls back to sandbox if credentials missing.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937760" y="306324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Offline AI Fallback (Resilience4j)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120640" y="326440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Gemini API times out or fails, local heuristic templates generate clean drafts with zero downtime.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937760" y="365760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Transparent Boundary #1 (Single-Tenant)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20640" y="385876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configured with a singleton MerchantSettings (id=1L) for frictionless local judging. Multi-tenant OAuth mapped in roadmap.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937760" y="425196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Transparent Boundary #2 (Token Swap)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20640" y="445312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checkout marks subscription active. Production token exchange roadmap issues a ₹1/₹0 mandate modification call.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JURY PITCH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3-Minute Live Hackathon Demo Script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0" y="36576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3274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365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2:50 - 3:00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95528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0F1E36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81328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E3A8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8132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38988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Pain &amp; Benchmark A/B Mode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737360" y="1664208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“Start on Dashboard in Benchmark Mode: 'In India, merchants lose 15-30% of subscriptions to involuntary churn. Without RecoverMandate, that means 48 hours of support backlog.' Flip toggle to RecoverMandate Active to reveal 65% recovery yield.”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0F1E36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46888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E3A8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6888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237744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Trigger 1-Click 5-Stage Live Recovery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737360" y="2651760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 Demo Simulator, select Insufficient Funds (HDFC), enter your email, and hit 🚀 Full 5-Stage Recovery. Watch the 5-stage progress bar illuminate in real time as the payment recovers in 3 seconds!”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0F1E36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456432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E3A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45643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3364992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Governance &amp; Indian Rail Heuristics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1737360" y="3639312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“Open Approval Queue: show Gentle/Balanced/Urgent tone selector and explain Financial Deny-List guard. Open Failed Mandates drawer: show Smart Retry Timeline avoiding PSU bank midnight maintenance.”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57200" y="4242816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0F1E36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443984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E3A8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4398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4352544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Cryptographic Audit Chain &amp; Webhook DLQ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1737360" y="4626864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“Open Audit Trail: Click Verify Chain to show SHA-256 blockchain proof. Switch to Webhook DLQ: show forensic quarantine of forged webhooks and hit 1-Click Replay to demonstrate zero lost revenue.”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57200" y="5230368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0F1E36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5431536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E3A8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43153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37360" y="5340096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The Punchline &amp; Closing ROI Summary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1737360" y="5614416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“'RecoverMandate is not just another email tool. It is an enterprise-grade financial recovery engine engineered specifically for the realities of Indian banking rails. Thank you!'”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2026-09-04T15:19:07Z</dcterms:created>
  <dcterms:modified xsi:type="dcterms:W3CDTF">2026-09-04T15:19:07Z</dcterms:modified>
</cp:coreProperties>
</file>